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5" autoAdjust="0"/>
  </p:normalViewPr>
  <p:slideViewPr>
    <p:cSldViewPr snapToGrid="0" snapToObjects="1">
      <p:cViewPr varScale="1">
        <p:scale>
          <a:sx n="74" d="100"/>
          <a:sy n="74" d="100"/>
        </p:scale>
        <p:origin x="101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1339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Sono partita dalla domanda dell’azienda: in quali comuni conviene investire in prevenzione del rischio stradale. Ho usato i dati ISTAT sugli incidenti dal 2001 al 2024.</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problema: i dati ISTAT non hanno popolazione né superficie, quindi li ho presi da SITUAS per calcolare i tassi. I comuni sono 7.896 e gli incidenti dal 2001 al 2024 sono circa 4,8 milioni. Il server ISTAT è lento e ha un limite di richieste, per questo il download è salvato in un file.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processo. Scarico gli incidenti dall’API ISTAT e faccio lo scraping di SITUAS. Poi pulizia: “NA” di Napoli letto come valore mancante e comuni a zero incidenti nel 2024. Unisco con il codice del comune, calcolo i tassi, faccio analisi, cluster e test, e infine la dashboard. Controllo: i totali 2024 coincidono con quelli ufficiali ISTAT-ACI.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strumenti: Python per scaricare e pulire, Selenium e BeautifulSoup per lo scraping, scikit-learn, SciPy e statsmodels per l’analisi, matplotlib e seaborn per i grafici, Power BI per la dashboard, Git e GitHub per il versionamento.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risultati. Trend degli incidenti dal 2001 al 2024, quattro cluster con K-means, Centro 2,21, Nord 2,04, Sud 1,42 (ANOVA). Le due liste sono la media dei tassi 2001-2024, come in Power BI. Limite: popolazione e superficie sono quelle del 2024 per tutti gli anni. Conclusione: Milano, Firenze e Bergamo sono nella top 10 di entrambe le misure e la cintura di Milano ha la concentrazione più alta.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9000" y="762000"/>
            <a:ext cx="10414000" cy="474980"/>
          </a:xfrm>
          <a:prstGeom prst="rect">
            <a:avLst/>
          </a:prstGeom>
          <a:noFill/>
          <a:ln/>
        </p:spPr>
        <p:txBody>
          <a:bodyPr wrap="square" lIns="0" tIns="0" rIns="0" bIns="0" rtlCol="0" anchor="t"/>
          <a:lstStyle>
            <a:lvl1pPr marL="0" indent="0" algn="l">
              <a:lnSpc>
                <a:spcPct val="115000"/>
              </a:lnSpc>
              <a:buNone/>
              <a:defRPr lang="en-US" sz="3400" dirty="0">
                <a:solidFill>
                  <a:srgbClr val="1F3A5F"/>
                </a:solidFill>
                <a:latin typeface="Calibri" pitchFamily="34" charset="0"/>
                <a:ea typeface="Calibri" pitchFamily="34" charset="-122"/>
                <a:cs typeface="Calibri"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89000" y="1541780"/>
            <a:ext cx="10490200" cy="4503420"/>
          </a:xfrm>
          <a:prstGeom prst="rect">
            <a:avLst/>
          </a:prstGeom>
          <a:noFill/>
          <a:ln/>
        </p:spPr>
        <p:txBody>
          <a:bodyPr wrap="square" lIns="0" tIns="0" rIns="0" bIns="0" rtlCol="0" anchor="t"/>
          <a:lstStyle>
            <a:lvl1pPr marL="0" indent="0" algn="l">
              <a:lnSpc>
                <a:spcPct val="140000"/>
              </a:lnSpc>
              <a:buNone/>
              <a:defRPr lang="en-US" sz="1600" dirty="0">
                <a:solidFill>
                  <a:srgbClr val="222222"/>
                </a:solidFill>
                <a:latin typeface="Calibri" pitchFamily="34" charset="0"/>
                <a:ea typeface="Calibri" pitchFamily="34" charset="-122"/>
                <a:cs typeface="Calibri"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9000" y="762000"/>
            <a:ext cx="10414000" cy="474980"/>
          </a:xfrm>
          <a:prstGeom prst="rect">
            <a:avLst/>
          </a:prstGeom>
          <a:noFill/>
          <a:ln/>
        </p:spPr>
        <p:txBody>
          <a:bodyPr wrap="square" lIns="0" tIns="0" rIns="0" bIns="0" rtlCol="0" anchor="t"/>
          <a:lstStyle>
            <a:lvl1pPr marL="0" indent="0" algn="l">
              <a:lnSpc>
                <a:spcPct val="115000"/>
              </a:lnSpc>
              <a:buNone/>
              <a:defRPr lang="en-US" sz="3400" dirty="0">
                <a:solidFill>
                  <a:srgbClr val="1F3A5F"/>
                </a:solidFill>
                <a:latin typeface="Calibri" pitchFamily="34" charset="0"/>
                <a:ea typeface="Calibri" pitchFamily="34" charset="-122"/>
                <a:cs typeface="Calibri"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89000" y="1541780"/>
            <a:ext cx="10490200" cy="4503420"/>
          </a:xfrm>
          <a:prstGeom prst="rect">
            <a:avLst/>
          </a:prstGeom>
          <a:noFill/>
          <a:ln/>
        </p:spPr>
        <p:txBody>
          <a:bodyPr wrap="square" lIns="0" tIns="0" rIns="0" bIns="0" rtlCol="0" anchor="t"/>
          <a:lstStyle>
            <a:lvl1pPr marL="0" indent="0" algn="l">
              <a:lnSpc>
                <a:spcPct val="140000"/>
              </a:lnSpc>
              <a:buNone/>
              <a:defRPr lang="en-US" sz="1600" dirty="0">
                <a:solidFill>
                  <a:srgbClr val="222222"/>
                </a:solidFill>
                <a:latin typeface="Calibri" pitchFamily="34" charset="0"/>
                <a:ea typeface="Calibri" pitchFamily="34" charset="-122"/>
                <a:cs typeface="Calibri"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89000" y="2082800"/>
            <a:ext cx="9810750" cy="13665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1F3A5F"/>
                </a:solidFill>
                <a:latin typeface="Calibri" pitchFamily="34" charset="0"/>
                <a:ea typeface="Calibri" pitchFamily="34" charset="-122"/>
                <a:cs typeface="Calibri" pitchFamily="34" charset="-120"/>
              </a:rPr>
              <a:t>Road accidents in Italian municipalities</a:t>
            </a:r>
            <a:endParaRPr lang="en-US" sz="4800" dirty="0"/>
          </a:p>
        </p:txBody>
      </p:sp>
      <p:sp>
        <p:nvSpPr>
          <p:cNvPr id="3" name="Text 1"/>
          <p:cNvSpPr/>
          <p:nvPr/>
        </p:nvSpPr>
        <p:spPr>
          <a:xfrm>
            <a:off x="889000" y="3652520"/>
            <a:ext cx="8502650" cy="779780"/>
          </a:xfrm>
          <a:prstGeom prst="rect">
            <a:avLst/>
          </a:prstGeom>
          <a:noFill/>
          <a:ln/>
        </p:spPr>
        <p:txBody>
          <a:bodyPr wrap="square" lIns="0" tIns="0" rIns="0" bIns="0" rtlCol="0" anchor="t">
            <a:normAutofit/>
          </a:bodyPr>
          <a:lstStyle/>
          <a:p>
            <a:pPr marL="0" indent="0" algn="l">
              <a:lnSpc>
                <a:spcPts val="2970"/>
              </a:lnSpc>
              <a:buNone/>
            </a:pPr>
            <a:r>
              <a:rPr lang="en-US" sz="2200" dirty="0">
                <a:solidFill>
                  <a:srgbClr val="444444"/>
                </a:solidFill>
                <a:latin typeface="Calibri" pitchFamily="34" charset="0"/>
                <a:ea typeface="Calibri" pitchFamily="34" charset="-122"/>
                <a:cs typeface="Calibri" pitchFamily="34" charset="-120"/>
              </a:rPr>
              <a:t>Where is it worth investing in road risk prevention? An analysis of ISTAT data, 2001–2024</a:t>
            </a:r>
            <a:endParaRPr lang="en-US" sz="2200" dirty="0"/>
          </a:p>
        </p:txBody>
      </p:sp>
      <p:sp>
        <p:nvSpPr>
          <p:cNvPr id="4" name="Text 2"/>
          <p:cNvSpPr/>
          <p:nvPr/>
        </p:nvSpPr>
        <p:spPr>
          <a:xfrm>
            <a:off x="889000" y="4635500"/>
            <a:ext cx="107264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666666"/>
                </a:solidFill>
                <a:latin typeface="Calibri" pitchFamily="34" charset="0"/>
                <a:ea typeface="Calibri" pitchFamily="34" charset="-122"/>
                <a:cs typeface="Calibri" pitchFamily="34" charset="-120"/>
              </a:rPr>
              <a:t>Martina Furian · Data Analytics capstone project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89000" y="762000"/>
            <a:ext cx="10726420"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F3A5F"/>
                </a:solidFill>
                <a:latin typeface="Calibri" pitchFamily="34" charset="0"/>
                <a:ea typeface="Calibri" pitchFamily="34" charset="-122"/>
                <a:cs typeface="Calibri" pitchFamily="34" charset="-120"/>
              </a:rPr>
              <a:t>The problem</a:t>
            </a:r>
            <a:endParaRPr lang="en-US" sz="3400" dirty="0"/>
          </a:p>
        </p:txBody>
      </p:sp>
      <p:sp>
        <p:nvSpPr>
          <p:cNvPr id="3" name="Text 1"/>
          <p:cNvSpPr/>
          <p:nvPr/>
        </p:nvSpPr>
        <p:spPr>
          <a:xfrm>
            <a:off x="889000" y="1516380"/>
            <a:ext cx="9810750" cy="1075055"/>
          </a:xfrm>
          <a:prstGeom prst="rect">
            <a:avLst/>
          </a:prstGeom>
          <a:noFill/>
          <a:ln/>
        </p:spPr>
        <p:txBody>
          <a:bodyPr wrap="square" lIns="0" tIns="0" rIns="0" bIns="0" rtlCol="0" anchor="t">
            <a:normAutofit/>
          </a:bodyPr>
          <a:lstStyle/>
          <a:p>
            <a:pPr marL="0" indent="0" algn="l">
              <a:lnSpc>
                <a:spcPts val="2755"/>
              </a:lnSpc>
              <a:buNone/>
            </a:pPr>
            <a:r>
              <a:rPr lang="en-US" sz="1900" dirty="0">
                <a:solidFill>
                  <a:srgbClr val="222222"/>
                </a:solidFill>
                <a:latin typeface="Calibri" pitchFamily="34" charset="0"/>
                <a:ea typeface="Calibri" pitchFamily="34" charset="-122"/>
                <a:cs typeface="Calibri" pitchFamily="34" charset="-120"/>
              </a:rPr>
              <a:t>The company needs to know which municipalities have the most road accidents, so it can decide where to invest. The ISTAT data has the accidents but not the population or the area, so the rates cannot be calculated from it alone.</a:t>
            </a:r>
            <a:endParaRPr lang="en-US" sz="1900" dirty="0"/>
          </a:p>
        </p:txBody>
      </p:sp>
      <p:sp>
        <p:nvSpPr>
          <p:cNvPr id="4" name="Text 2"/>
          <p:cNvSpPr/>
          <p:nvPr/>
        </p:nvSpPr>
        <p:spPr>
          <a:xfrm>
            <a:off x="970534" y="2845435"/>
            <a:ext cx="9720834" cy="1579880"/>
          </a:xfrm>
          <a:prstGeom prst="rect">
            <a:avLst/>
          </a:prstGeom>
          <a:noFill/>
          <a:ln/>
        </p:spPr>
        <p:txBody>
          <a:bodyPr wrap="square" lIns="0" tIns="0" rIns="0" bIns="0" rtlCol="0" anchor="t">
            <a:normAutofit/>
          </a:bodyPr>
          <a:lstStyle/>
          <a:p>
            <a:pPr marL="197866" indent="-197866" algn="l">
              <a:lnSpc>
                <a:spcPts val="3060"/>
              </a:lnSpc>
              <a:buSzPct val="100000"/>
              <a:buChar char="•"/>
            </a:pPr>
            <a:r>
              <a:rPr lang="en-US" sz="1800" dirty="0">
                <a:solidFill>
                  <a:srgbClr val="222222"/>
                </a:solidFill>
                <a:latin typeface="Calibri" pitchFamily="34" charset="0"/>
                <a:ea typeface="Calibri" pitchFamily="34" charset="-122"/>
                <a:cs typeface="Calibri" pitchFamily="34" charset="-120"/>
              </a:rPr>
              <a:t>7,896 municipalities (SITUAS list at 31/12/2024)</a:t>
            </a:r>
            <a:endParaRPr lang="en-US" sz="1800" dirty="0"/>
          </a:p>
          <a:p>
            <a:pPr marL="197866" indent="-197866" algn="l">
              <a:lnSpc>
                <a:spcPts val="3060"/>
              </a:lnSpc>
              <a:buSzPct val="100000"/>
              <a:buChar char="•"/>
            </a:pPr>
            <a:r>
              <a:rPr lang="en-US" sz="1800" dirty="0">
                <a:solidFill>
                  <a:srgbClr val="222222"/>
                </a:solidFill>
                <a:latin typeface="Calibri" pitchFamily="34" charset="0"/>
                <a:ea typeface="Calibri" pitchFamily="34" charset="-122"/>
                <a:cs typeface="Calibri" pitchFamily="34" charset="-120"/>
              </a:rPr>
              <a:t>About 4.8 million accidents between 2001 and 2024</a:t>
            </a:r>
            <a:endParaRPr lang="en-US" sz="1800" dirty="0"/>
          </a:p>
          <a:p>
            <a:pPr marL="197866" indent="-197866" algn="l">
              <a:lnSpc>
                <a:spcPts val="3060"/>
              </a:lnSpc>
              <a:buSzPct val="100000"/>
              <a:buChar char="•"/>
            </a:pPr>
            <a:r>
              <a:rPr lang="en-US" sz="1800" dirty="0">
                <a:solidFill>
                  <a:srgbClr val="222222"/>
                </a:solidFill>
                <a:latin typeface="Calibri" pitchFamily="34" charset="0"/>
                <a:ea typeface="Calibri" pitchFamily="34" charset="-122"/>
                <a:cs typeface="Calibri" pitchFamily="34" charset="-120"/>
              </a:rPr>
              <a:t>Two rates to compare: accidents per 1,000 inhabitants and accidents per km²</a:t>
            </a:r>
            <a:endParaRPr lang="en-US" sz="1800" dirty="0"/>
          </a:p>
          <a:p>
            <a:pPr marL="197866" indent="-197866" algn="l">
              <a:lnSpc>
                <a:spcPts val="3060"/>
              </a:lnSpc>
              <a:buSzPct val="100000"/>
              <a:buChar char="•"/>
            </a:pPr>
            <a:r>
              <a:rPr lang="en-US" sz="1800" dirty="0">
                <a:solidFill>
                  <a:srgbClr val="222222"/>
                </a:solidFill>
                <a:latin typeface="Calibri" pitchFamily="34" charset="0"/>
                <a:ea typeface="Calibri" pitchFamily="34" charset="-122"/>
                <a:cs typeface="Calibri" pitchFamily="34" charset="-120"/>
              </a:rPr>
              <a:t>The ISTAT server is slow and limits the number of requests</a:t>
            </a:r>
            <a:endParaRPr lang="en-US" sz="1800" dirty="0"/>
          </a:p>
        </p:txBody>
      </p:sp>
      <p:sp>
        <p:nvSpPr>
          <p:cNvPr id="5" name="Text 3"/>
          <p:cNvSpPr/>
          <p:nvPr/>
        </p:nvSpPr>
        <p:spPr>
          <a:xfrm>
            <a:off x="889000" y="6263641"/>
            <a:ext cx="33870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77777"/>
                </a:solidFill>
                <a:latin typeface="Calibri" pitchFamily="34" charset="0"/>
                <a:ea typeface="Calibri" pitchFamily="34" charset="-122"/>
                <a:cs typeface="Calibri" pitchFamily="34" charset="-120"/>
              </a:rPr>
              <a:t>2 / 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89000" y="762000"/>
            <a:ext cx="10726420"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F3A5F"/>
                </a:solidFill>
                <a:latin typeface="Calibri" pitchFamily="34" charset="0"/>
                <a:ea typeface="Calibri" pitchFamily="34" charset="-122"/>
                <a:cs typeface="Calibri" pitchFamily="34" charset="-120"/>
              </a:rPr>
              <a:t>What I did</a:t>
            </a:r>
            <a:endParaRPr lang="en-US" sz="3400" dirty="0"/>
          </a:p>
        </p:txBody>
      </p:sp>
      <p:sp>
        <p:nvSpPr>
          <p:cNvPr id="3" name="Text 1"/>
          <p:cNvSpPr/>
          <p:nvPr/>
        </p:nvSpPr>
        <p:spPr>
          <a:xfrm>
            <a:off x="993854" y="1490980"/>
            <a:ext cx="10350040" cy="2860040"/>
          </a:xfrm>
          <a:prstGeom prst="rect">
            <a:avLst/>
          </a:prstGeom>
          <a:noFill/>
          <a:ln/>
        </p:spPr>
        <p:txBody>
          <a:bodyPr wrap="square" lIns="0" tIns="0" rIns="0" bIns="0" rtlCol="0" anchor="t">
            <a:normAutofit/>
          </a:bodyPr>
          <a:lstStyle/>
          <a:p>
            <a:pPr marL="225346" indent="-225346" algn="l">
              <a:lnSpc>
                <a:spcPts val="2790"/>
              </a:lnSpc>
              <a:buSzPct val="100000"/>
              <a:buFontTx/>
              <a:buAutoNum type="arabicPeriod"/>
            </a:pPr>
            <a:r>
              <a:rPr lang="en-US" sz="1800" b="1" dirty="0">
                <a:solidFill>
                  <a:srgbClr val="222222"/>
                </a:solidFill>
                <a:latin typeface="Calibri" pitchFamily="34" charset="0"/>
                <a:ea typeface="Calibri" pitchFamily="34" charset="-122"/>
                <a:cs typeface="Calibri" pitchFamily="34" charset="-120"/>
              </a:rPr>
              <a:t>Download.</a:t>
            </a:r>
            <a:r>
              <a:rPr lang="en-US" sz="1800" dirty="0">
                <a:solidFill>
                  <a:srgbClr val="222222"/>
                </a:solidFill>
                <a:latin typeface="Calibri" pitchFamily="34" charset="0"/>
                <a:ea typeface="Calibri" pitchFamily="34" charset="-122"/>
                <a:cs typeface="Calibri" pitchFamily="34" charset="-120"/>
              </a:rPr>
              <a:t> Accidents from the ISTAT API; population and area scraped from the SITUAS website with Selenium.</a:t>
            </a:r>
            <a:endParaRPr lang="en-US" sz="1800" dirty="0"/>
          </a:p>
          <a:p>
            <a:pPr marL="225346" indent="-225346" algn="l">
              <a:lnSpc>
                <a:spcPts val="2790"/>
              </a:lnSpc>
              <a:buSzPct val="100000"/>
              <a:buFontTx/>
              <a:buAutoNum type="arabicPeriod"/>
            </a:pPr>
            <a:r>
              <a:rPr lang="en-US" sz="1800" b="1" dirty="0">
                <a:solidFill>
                  <a:srgbClr val="222222"/>
                </a:solidFill>
                <a:latin typeface="Calibri" pitchFamily="34" charset="0"/>
                <a:ea typeface="Calibri" pitchFamily="34" charset="-122"/>
                <a:cs typeface="Calibri" pitchFamily="34" charset="-120"/>
              </a:rPr>
              <a:t>Cleaning.</a:t>
            </a:r>
            <a:r>
              <a:rPr lang="en-US" sz="1800" dirty="0">
                <a:solidFill>
                  <a:srgbClr val="222222"/>
                </a:solidFill>
                <a:latin typeface="Calibri" pitchFamily="34" charset="0"/>
                <a:ea typeface="Calibri" pitchFamily="34" charset="-122"/>
                <a:cs typeface="Calibri" pitchFamily="34" charset="-120"/>
              </a:rPr>
              <a:t> Pandas read the sigla “NA” (Napoli) as a missing value, so I fixed the reading. ISTAT does not list municipalities with zero accidents in 2024, so I added the 1,557 missing ones with zero.</a:t>
            </a:r>
            <a:endParaRPr lang="en-US" sz="1800" dirty="0"/>
          </a:p>
          <a:p>
            <a:pPr marL="225346" indent="-225346" algn="l">
              <a:lnSpc>
                <a:spcPts val="2790"/>
              </a:lnSpc>
              <a:buSzPct val="100000"/>
              <a:buFontTx/>
              <a:buAutoNum type="arabicPeriod"/>
            </a:pPr>
            <a:r>
              <a:rPr lang="en-US" sz="1800" b="1" dirty="0">
                <a:solidFill>
                  <a:srgbClr val="222222"/>
                </a:solidFill>
                <a:latin typeface="Calibri" pitchFamily="34" charset="0"/>
                <a:ea typeface="Calibri" pitchFamily="34" charset="-122"/>
                <a:cs typeface="Calibri" pitchFamily="34" charset="-120"/>
              </a:rPr>
              <a:t>Join.</a:t>
            </a:r>
            <a:r>
              <a:rPr lang="en-US" sz="1800" dirty="0">
                <a:solidFill>
                  <a:srgbClr val="222222"/>
                </a:solidFill>
                <a:latin typeface="Calibri" pitchFamily="34" charset="0"/>
                <a:ea typeface="Calibri" pitchFamily="34" charset="-122"/>
                <a:cs typeface="Calibri" pitchFamily="34" charset="-120"/>
              </a:rPr>
              <a:t> The two tables are joined on the municipality code. I then calculated the rates per 1,000 inhabitants and per km².</a:t>
            </a:r>
            <a:endParaRPr lang="en-US" sz="1800" dirty="0"/>
          </a:p>
          <a:p>
            <a:pPr marL="225346" indent="-225346" algn="l">
              <a:lnSpc>
                <a:spcPts val="2790"/>
              </a:lnSpc>
              <a:buSzPct val="100000"/>
              <a:buFontTx/>
              <a:buAutoNum type="arabicPeriod"/>
            </a:pPr>
            <a:r>
              <a:rPr lang="en-US" sz="1800" b="1" dirty="0">
                <a:solidFill>
                  <a:srgbClr val="222222"/>
                </a:solidFill>
                <a:latin typeface="Calibri" pitchFamily="34" charset="0"/>
                <a:ea typeface="Calibri" pitchFamily="34" charset="-122"/>
                <a:cs typeface="Calibri" pitchFamily="34" charset="-120"/>
              </a:rPr>
              <a:t>Analysis.</a:t>
            </a:r>
            <a:r>
              <a:rPr lang="en-US" sz="1800" dirty="0">
                <a:solidFill>
                  <a:srgbClr val="222222"/>
                </a:solidFill>
                <a:latin typeface="Calibri" pitchFamily="34" charset="0"/>
                <a:ea typeface="Calibri" pitchFamily="34" charset="-122"/>
                <a:cs typeface="Calibri" pitchFamily="34" charset="-120"/>
              </a:rPr>
              <a:t> Exploratory charts, K-means clusters, a regression, and ANOVA.</a:t>
            </a:r>
            <a:endParaRPr lang="en-US" sz="1800" dirty="0"/>
          </a:p>
          <a:p>
            <a:pPr marL="225346" indent="-225346" algn="l">
              <a:lnSpc>
                <a:spcPts val="2790"/>
              </a:lnSpc>
              <a:buSzPct val="100000"/>
              <a:buFontTx/>
              <a:buAutoNum type="arabicPeriod"/>
            </a:pPr>
            <a:r>
              <a:rPr lang="en-US" sz="1800" b="1" dirty="0">
                <a:solidFill>
                  <a:srgbClr val="222222"/>
                </a:solidFill>
                <a:latin typeface="Calibri" pitchFamily="34" charset="0"/>
                <a:ea typeface="Calibri" pitchFamily="34" charset="-122"/>
                <a:cs typeface="Calibri" pitchFamily="34" charset="-120"/>
              </a:rPr>
              <a:t>Dashboard.</a:t>
            </a:r>
            <a:r>
              <a:rPr lang="en-US" sz="1800" dirty="0">
                <a:solidFill>
                  <a:srgbClr val="222222"/>
                </a:solidFill>
                <a:latin typeface="Calibri" pitchFamily="34" charset="0"/>
                <a:ea typeface="Calibri" pitchFamily="34" charset="-122"/>
                <a:cs typeface="Calibri" pitchFamily="34" charset="-120"/>
              </a:rPr>
              <a:t> Power BI report with filters and the top municipalities.</a:t>
            </a:r>
            <a:endParaRPr lang="en-US" sz="1800" dirty="0"/>
          </a:p>
        </p:txBody>
      </p:sp>
      <p:sp>
        <p:nvSpPr>
          <p:cNvPr id="4" name="Text 2"/>
          <p:cNvSpPr/>
          <p:nvPr/>
        </p:nvSpPr>
        <p:spPr>
          <a:xfrm>
            <a:off x="889000" y="4579620"/>
            <a:ext cx="104648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4444"/>
                </a:solidFill>
                <a:latin typeface="Calibri" pitchFamily="34" charset="0"/>
                <a:ea typeface="Calibri" pitchFamily="34" charset="-122"/>
                <a:cs typeface="Calibri" pitchFamily="34" charset="-120"/>
              </a:rPr>
              <a:t>Check: the 2024 totals (173,364 accidents, 3,030 deaths, 233,853 injured) are the same as the official ISTAT–ACI figures.</a:t>
            </a:r>
            <a:endParaRPr lang="en-US" sz="1600" dirty="0"/>
          </a:p>
        </p:txBody>
      </p:sp>
      <p:sp>
        <p:nvSpPr>
          <p:cNvPr id="5" name="Text 3"/>
          <p:cNvSpPr/>
          <p:nvPr/>
        </p:nvSpPr>
        <p:spPr>
          <a:xfrm>
            <a:off x="889000" y="6263641"/>
            <a:ext cx="33870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77777"/>
                </a:solidFill>
                <a:latin typeface="Calibri" pitchFamily="34" charset="0"/>
                <a:ea typeface="Calibri" pitchFamily="34" charset="-122"/>
                <a:cs typeface="Calibri" pitchFamily="34" charset="-120"/>
              </a:rPr>
              <a:t>3 / 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89000" y="762000"/>
            <a:ext cx="10726420"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F3A5F"/>
                </a:solidFill>
                <a:latin typeface="Calibri" pitchFamily="34" charset="0"/>
                <a:ea typeface="Calibri" pitchFamily="34" charset="-122"/>
                <a:cs typeface="Calibri" pitchFamily="34" charset="-120"/>
              </a:rPr>
              <a:t>Tools</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2230020468"/>
              </p:ext>
            </p:extLst>
          </p:nvPr>
        </p:nvGraphicFramePr>
        <p:xfrm>
          <a:off x="899160" y="1526540"/>
          <a:ext cx="10149840" cy="3825240"/>
        </p:xfrm>
        <a:graphic>
          <a:graphicData uri="http://schemas.openxmlformats.org/drawingml/2006/table">
            <a:tbl>
              <a:tblPr/>
              <a:tblGrid>
                <a:gridCol w="5074920">
                  <a:extLst>
                    <a:ext uri="{9D8B030D-6E8A-4147-A177-3AD203B41FA5}">
                      <a16:colId xmlns:a16="http://schemas.microsoft.com/office/drawing/2014/main" val="20000"/>
                    </a:ext>
                  </a:extLst>
                </a:gridCol>
                <a:gridCol w="5074920">
                  <a:extLst>
                    <a:ext uri="{9D8B030D-6E8A-4147-A177-3AD203B41FA5}">
                      <a16:colId xmlns:a16="http://schemas.microsoft.com/office/drawing/2014/main" val="20001"/>
                    </a:ext>
                  </a:extLst>
                </a:gridCol>
              </a:tblGrid>
              <a:tr h="904240">
                <a:tc>
                  <a:txBody>
                    <a:bodyPr/>
                    <a:lstStyle/>
                    <a:p>
                      <a:pPr marL="0" indent="0">
                        <a:lnSpc>
                          <a:spcPts val="2520"/>
                        </a:lnSpc>
                        <a:buNone/>
                      </a:pPr>
                      <a:r>
                        <a:rPr lang="en-US" sz="1800" dirty="0">
                          <a:solidFill>
                            <a:srgbClr val="222222"/>
                          </a:solidFill>
                          <a:latin typeface="Calibri" pitchFamily="34" charset="0"/>
                          <a:ea typeface="Calibri" pitchFamily="34" charset="-122"/>
                          <a:cs typeface="Calibri" pitchFamily="34" charset="-120"/>
                        </a:rPr>
                        <a:t>Python</a:t>
                      </a:r>
                      <a:endParaRPr lang="en-US" sz="1800" dirty="0">
                        <a:latin typeface="Calibri" charset="0"/>
                        <a:ea typeface="Calibri" charset="0"/>
                        <a:cs typeface="Calibri" charset="0"/>
                      </a:endParaRPr>
                    </a:p>
                  </a:txBody>
                  <a:tcPr marL="0" marR="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520"/>
                        </a:lnSpc>
                        <a:buNone/>
                      </a:pPr>
                      <a:r>
                        <a:rPr lang="en-US" sz="1800" dirty="0">
                          <a:solidFill>
                            <a:srgbClr val="222222"/>
                          </a:solidFill>
                          <a:latin typeface="Calibri" pitchFamily="34" charset="0"/>
                          <a:ea typeface="Calibri" pitchFamily="34" charset="-122"/>
                          <a:cs typeface="Calibri" pitchFamily="34" charset="-120"/>
                        </a:rPr>
                        <a:t>pandas, NumPy, requests for downloading and cleaning</a:t>
                      </a:r>
                      <a:endParaRPr lang="en-US" sz="1800" dirty="0">
                        <a:latin typeface="Calibri" charset="0"/>
                        <a:ea typeface="Calibri" charset="0"/>
                        <a:cs typeface="Calibri" charset="0"/>
                      </a:endParaRPr>
                    </a:p>
                  </a:txBody>
                  <a:tcPr marL="0" marR="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0"/>
                  </a:ext>
                </a:extLst>
              </a:tr>
              <a:tr h="584200">
                <a:tc>
                  <a:txBody>
                    <a:bodyPr/>
                    <a:lstStyle/>
                    <a:p>
                      <a:pPr marL="0" indent="0">
                        <a:lnSpc>
                          <a:spcPts val="2520"/>
                        </a:lnSpc>
                        <a:buNone/>
                      </a:pPr>
                      <a:r>
                        <a:rPr lang="en-US" sz="1800" dirty="0">
                          <a:solidFill>
                            <a:srgbClr val="222222"/>
                          </a:solidFill>
                          <a:latin typeface="Calibri" pitchFamily="34" charset="0"/>
                          <a:ea typeface="Calibri" pitchFamily="34" charset="-122"/>
                          <a:cs typeface="Calibri" pitchFamily="34" charset="-120"/>
                        </a:rPr>
                        <a:t>Selenium, BeautifulSoup</a:t>
                      </a:r>
                      <a:endParaRPr lang="en-US" sz="1800" dirty="0">
                        <a:latin typeface="Calibri" charset="0"/>
                        <a:ea typeface="Calibri" charset="0"/>
                        <a:cs typeface="Calibri" charset="0"/>
                      </a:endParaRPr>
                    </a:p>
                  </a:txBody>
                  <a:tcPr marL="0" marR="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520"/>
                        </a:lnSpc>
                        <a:buNone/>
                      </a:pPr>
                      <a:r>
                        <a:rPr lang="en-US" sz="1800" dirty="0">
                          <a:solidFill>
                            <a:srgbClr val="222222"/>
                          </a:solidFill>
                          <a:latin typeface="Calibri" pitchFamily="34" charset="0"/>
                          <a:ea typeface="Calibri" pitchFamily="34" charset="-122"/>
                          <a:cs typeface="Calibri" pitchFamily="34" charset="-120"/>
                        </a:rPr>
                        <a:t>scraping the SITUAS table</a:t>
                      </a:r>
                      <a:endParaRPr lang="en-US" sz="1800" dirty="0">
                        <a:latin typeface="Calibri" charset="0"/>
                        <a:ea typeface="Calibri" charset="0"/>
                        <a:cs typeface="Calibri" charset="0"/>
                      </a:endParaRPr>
                    </a:p>
                  </a:txBody>
                  <a:tcPr marL="0" marR="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84200">
                <a:tc>
                  <a:txBody>
                    <a:bodyPr/>
                    <a:lstStyle/>
                    <a:p>
                      <a:pPr marL="0" indent="0">
                        <a:lnSpc>
                          <a:spcPts val="2520"/>
                        </a:lnSpc>
                        <a:buNone/>
                      </a:pPr>
                      <a:r>
                        <a:rPr lang="en-US" sz="1800" dirty="0">
                          <a:solidFill>
                            <a:srgbClr val="222222"/>
                          </a:solidFill>
                          <a:latin typeface="Calibri" pitchFamily="34" charset="0"/>
                          <a:ea typeface="Calibri" pitchFamily="34" charset="-122"/>
                          <a:cs typeface="Calibri" pitchFamily="34" charset="-120"/>
                        </a:rPr>
                        <a:t>matplotlib, seaborn</a:t>
                      </a:r>
                      <a:endParaRPr lang="en-US" sz="1800" dirty="0">
                        <a:latin typeface="Calibri" charset="0"/>
                        <a:ea typeface="Calibri" charset="0"/>
                        <a:cs typeface="Calibri" charset="0"/>
                      </a:endParaRPr>
                    </a:p>
                  </a:txBody>
                  <a:tcPr marL="0" marR="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520"/>
                        </a:lnSpc>
                        <a:buNone/>
                      </a:pPr>
                      <a:r>
                        <a:rPr lang="en-US" sz="1800" dirty="0">
                          <a:solidFill>
                            <a:srgbClr val="222222"/>
                          </a:solidFill>
                          <a:latin typeface="Calibri" pitchFamily="34" charset="0"/>
                          <a:ea typeface="Calibri" pitchFamily="34" charset="-122"/>
                          <a:cs typeface="Calibri" pitchFamily="34" charset="-120"/>
                        </a:rPr>
                        <a:t>charts</a:t>
                      </a:r>
                      <a:endParaRPr lang="en-US" sz="1800" dirty="0">
                        <a:latin typeface="Calibri" charset="0"/>
                        <a:ea typeface="Calibri" charset="0"/>
                        <a:cs typeface="Calibri" charset="0"/>
                      </a:endParaRPr>
                    </a:p>
                  </a:txBody>
                  <a:tcPr marL="0" marR="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584200">
                <a:tc>
                  <a:txBody>
                    <a:bodyPr/>
                    <a:lstStyle/>
                    <a:p>
                      <a:pPr marL="0" indent="0">
                        <a:lnSpc>
                          <a:spcPts val="2520"/>
                        </a:lnSpc>
                        <a:buNone/>
                      </a:pPr>
                      <a:r>
                        <a:rPr lang="en-US" sz="1800" dirty="0">
                          <a:solidFill>
                            <a:srgbClr val="222222"/>
                          </a:solidFill>
                          <a:latin typeface="Calibri" pitchFamily="34" charset="0"/>
                          <a:ea typeface="Calibri" pitchFamily="34" charset="-122"/>
                          <a:cs typeface="Calibri" pitchFamily="34" charset="-120"/>
                        </a:rPr>
                        <a:t>scikit-learn, SciPy, statsmodels</a:t>
                      </a:r>
                      <a:endParaRPr lang="en-US" sz="1800" dirty="0">
                        <a:latin typeface="Calibri" charset="0"/>
                        <a:ea typeface="Calibri" charset="0"/>
                        <a:cs typeface="Calibri" charset="0"/>
                      </a:endParaRPr>
                    </a:p>
                  </a:txBody>
                  <a:tcPr marL="0" marR="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520"/>
                        </a:lnSpc>
                        <a:buNone/>
                      </a:pPr>
                      <a:r>
                        <a:rPr lang="en-US" sz="1800" dirty="0">
                          <a:solidFill>
                            <a:srgbClr val="222222"/>
                          </a:solidFill>
                          <a:latin typeface="Calibri" pitchFamily="34" charset="0"/>
                          <a:ea typeface="Calibri" pitchFamily="34" charset="-122"/>
                          <a:cs typeface="Calibri" pitchFamily="34" charset="-120"/>
                        </a:rPr>
                        <a:t>K-means, regression, ANOVA</a:t>
                      </a:r>
                      <a:endParaRPr lang="en-US" sz="1800" dirty="0">
                        <a:latin typeface="Calibri" charset="0"/>
                        <a:ea typeface="Calibri" charset="0"/>
                        <a:cs typeface="Calibri" charset="0"/>
                      </a:endParaRPr>
                    </a:p>
                  </a:txBody>
                  <a:tcPr marL="0" marR="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84200">
                <a:tc>
                  <a:txBody>
                    <a:bodyPr/>
                    <a:lstStyle/>
                    <a:p>
                      <a:pPr marL="0" indent="0">
                        <a:lnSpc>
                          <a:spcPts val="2520"/>
                        </a:lnSpc>
                        <a:buNone/>
                      </a:pPr>
                      <a:r>
                        <a:rPr lang="en-US" sz="1800" dirty="0">
                          <a:solidFill>
                            <a:srgbClr val="222222"/>
                          </a:solidFill>
                          <a:latin typeface="Calibri" pitchFamily="34" charset="0"/>
                          <a:ea typeface="Calibri" pitchFamily="34" charset="-122"/>
                          <a:cs typeface="Calibri" pitchFamily="34" charset="-120"/>
                        </a:rPr>
                        <a:t>Power BI</a:t>
                      </a:r>
                      <a:endParaRPr lang="en-US" sz="1800" dirty="0">
                        <a:latin typeface="Calibri" charset="0"/>
                        <a:ea typeface="Calibri" charset="0"/>
                        <a:cs typeface="Calibri" charset="0"/>
                      </a:endParaRPr>
                    </a:p>
                  </a:txBody>
                  <a:tcPr marL="0" marR="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520"/>
                        </a:lnSpc>
                        <a:buNone/>
                      </a:pPr>
                      <a:r>
                        <a:rPr lang="en-US" sz="1800" dirty="0">
                          <a:solidFill>
                            <a:srgbClr val="222222"/>
                          </a:solidFill>
                          <a:latin typeface="Calibri" pitchFamily="34" charset="0"/>
                          <a:ea typeface="Calibri" pitchFamily="34" charset="-122"/>
                          <a:cs typeface="Calibri" pitchFamily="34" charset="-120"/>
                        </a:rPr>
                        <a:t>dashboard</a:t>
                      </a:r>
                      <a:endParaRPr lang="en-US" sz="1800" dirty="0">
                        <a:latin typeface="Calibri" charset="0"/>
                        <a:ea typeface="Calibri" charset="0"/>
                        <a:cs typeface="Calibri" charset="0"/>
                      </a:endParaRPr>
                    </a:p>
                  </a:txBody>
                  <a:tcPr marL="0" marR="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584200">
                <a:tc>
                  <a:txBody>
                    <a:bodyPr/>
                    <a:lstStyle/>
                    <a:p>
                      <a:pPr marL="0" indent="0">
                        <a:lnSpc>
                          <a:spcPts val="2520"/>
                        </a:lnSpc>
                        <a:buNone/>
                      </a:pPr>
                      <a:r>
                        <a:rPr lang="en-US" sz="1800" dirty="0">
                          <a:solidFill>
                            <a:srgbClr val="222222"/>
                          </a:solidFill>
                          <a:latin typeface="Calibri" pitchFamily="34" charset="0"/>
                          <a:ea typeface="Calibri" pitchFamily="34" charset="-122"/>
                          <a:cs typeface="Calibri" pitchFamily="34" charset="-120"/>
                        </a:rPr>
                        <a:t>Git, GitHub</a:t>
                      </a:r>
                      <a:endParaRPr lang="en-US" sz="1800" dirty="0">
                        <a:latin typeface="Calibri" charset="0"/>
                        <a:ea typeface="Calibri" charset="0"/>
                        <a:cs typeface="Calibri" charset="0"/>
                      </a:endParaRPr>
                    </a:p>
                  </a:txBody>
                  <a:tcPr marL="0" marR="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520"/>
                        </a:lnSpc>
                        <a:buNone/>
                      </a:pPr>
                      <a:r>
                        <a:rPr lang="en-US" sz="1800" dirty="0">
                          <a:solidFill>
                            <a:srgbClr val="222222"/>
                          </a:solidFill>
                          <a:latin typeface="Calibri" pitchFamily="34" charset="0"/>
                          <a:ea typeface="Calibri" pitchFamily="34" charset="-122"/>
                          <a:cs typeface="Calibri" pitchFamily="34" charset="-120"/>
                        </a:rPr>
                        <a:t>notebooks, data, dashboard and this presentation</a:t>
                      </a:r>
                      <a:endParaRPr lang="en-US" sz="1800" dirty="0">
                        <a:latin typeface="Calibri" charset="0"/>
                        <a:ea typeface="Calibri" charset="0"/>
                        <a:cs typeface="Calibri" charset="0"/>
                      </a:endParaRPr>
                    </a:p>
                  </a:txBody>
                  <a:tcPr marL="0" marR="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p:nvPr/>
        </p:nvSpPr>
        <p:spPr>
          <a:xfrm>
            <a:off x="889000" y="6263639"/>
            <a:ext cx="33870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77777"/>
                </a:solidFill>
                <a:latin typeface="Calibri" pitchFamily="34" charset="0"/>
                <a:ea typeface="Calibri" pitchFamily="34" charset="-122"/>
                <a:cs typeface="Calibri" pitchFamily="34" charset="-120"/>
              </a:rPr>
              <a:t>4 / 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89000" y="6263639"/>
            <a:ext cx="276434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77777"/>
                </a:solidFill>
                <a:latin typeface="Calibri" pitchFamily="34" charset="0"/>
                <a:ea typeface="Calibri" pitchFamily="34" charset="-122"/>
                <a:cs typeface="Calibri" pitchFamily="34" charset="-120"/>
              </a:rPr>
              <a:t>5 / 5 · Source: ISTAT (41_983), SITUAS</a:t>
            </a:r>
            <a:endParaRPr lang="en-US" sz="1200" dirty="0"/>
          </a:p>
        </p:txBody>
      </p:sp>
      <p:sp>
        <p:nvSpPr>
          <p:cNvPr id="3" name="Text 1"/>
          <p:cNvSpPr>
            <a:spLocks noGrp="1"/>
          </p:cNvSpPr>
          <p:nvPr>
            <p:ph type="title"/>
          </p:nvPr>
        </p:nvSpPr>
        <p:spPr>
          <a:xfrm>
            <a:off x="889000" y="762000"/>
            <a:ext cx="10726420"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F3A5F"/>
                </a:solidFill>
                <a:latin typeface="Calibri" pitchFamily="34" charset="0"/>
                <a:ea typeface="Calibri" pitchFamily="34" charset="-122"/>
                <a:cs typeface="Calibri" pitchFamily="34" charset="-120"/>
              </a:rPr>
              <a:t>Results</a:t>
            </a:r>
            <a:endParaRPr lang="en-US" sz="3400" dirty="0"/>
          </a:p>
        </p:txBody>
      </p:sp>
      <p:sp>
        <p:nvSpPr>
          <p:cNvPr id="4" name="Text 2"/>
          <p:cNvSpPr/>
          <p:nvPr/>
        </p:nvSpPr>
        <p:spPr>
          <a:xfrm>
            <a:off x="977900" y="2032000"/>
            <a:ext cx="4493260" cy="1826956"/>
          </a:xfrm>
          <a:prstGeom prst="rect">
            <a:avLst/>
          </a:prstGeom>
          <a:noFill/>
          <a:ln/>
        </p:spPr>
        <p:txBody>
          <a:bodyPr wrap="square" lIns="0" tIns="0" rIns="0" bIns="0" rtlCol="0" anchor="t">
            <a:normAutofit/>
          </a:bodyPr>
          <a:lstStyle/>
          <a:p>
            <a:pPr marL="176530" indent="-176530" algn="l">
              <a:lnSpc>
                <a:spcPts val="2250"/>
              </a:lnSpc>
              <a:buSzPct val="100000"/>
              <a:buChar char="•"/>
            </a:pPr>
            <a:r>
              <a:rPr lang="en-US" sz="1500" dirty="0">
                <a:solidFill>
                  <a:srgbClr val="222222"/>
                </a:solidFill>
                <a:latin typeface="Calibri" pitchFamily="34" charset="0"/>
                <a:ea typeface="Calibri" pitchFamily="34" charset="-122"/>
                <a:cs typeface="Calibri" pitchFamily="34" charset="-120"/>
              </a:rPr>
              <a:t>Accidents went from 254,474 in 2001 to 172,099 in 2019, fell to 118,269 in 2020 (Covid) and are back to 173,364 in 2024.</a:t>
            </a:r>
            <a:endParaRPr lang="en-US" sz="1500" dirty="0"/>
          </a:p>
          <a:p>
            <a:pPr marL="176530" indent="-176530" algn="l">
              <a:lnSpc>
                <a:spcPts val="2250"/>
              </a:lnSpc>
              <a:buSzPct val="100000"/>
              <a:buChar char="•"/>
            </a:pPr>
            <a:r>
              <a:rPr lang="en-US" sz="1500" dirty="0">
                <a:solidFill>
                  <a:srgbClr val="222222"/>
                </a:solidFill>
                <a:latin typeface="Calibri" pitchFamily="34" charset="0"/>
                <a:ea typeface="Calibri" pitchFamily="34" charset="-122"/>
                <a:cs typeface="Calibri" pitchFamily="34" charset="-120"/>
              </a:rPr>
              <a:t>K-means gives 4 groups of municipalities: 4,965 low risk, 2,666 medium, 164 dense urban areas and 101 with the highest rate per inhabitant.</a:t>
            </a:r>
            <a:endParaRPr lang="en-US" sz="1500" dirty="0"/>
          </a:p>
        </p:txBody>
      </p:sp>
      <p:sp>
        <p:nvSpPr>
          <p:cNvPr id="5" name="Text 3"/>
          <p:cNvSpPr/>
          <p:nvPr/>
        </p:nvSpPr>
        <p:spPr>
          <a:xfrm>
            <a:off x="5715000" y="1466850"/>
            <a:ext cx="26162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22222"/>
                </a:solidFill>
                <a:latin typeface="Calibri" pitchFamily="34" charset="0"/>
                <a:ea typeface="Calibri" pitchFamily="34" charset="-122"/>
                <a:cs typeface="Calibri" pitchFamily="34" charset="-120"/>
              </a:rPr>
              <a:t>Per km²</a:t>
            </a:r>
            <a:r>
              <a:rPr lang="en-US" sz="1400" dirty="0">
                <a:solidFill>
                  <a:srgbClr val="222222"/>
                </a:solidFill>
                <a:latin typeface="Calibri" pitchFamily="34" charset="0"/>
                <a:ea typeface="Calibri" pitchFamily="34" charset="-122"/>
                <a:cs typeface="Calibri" pitchFamily="34" charset="-120"/>
              </a:rPr>
              <a:t> </a:t>
            </a:r>
            <a:r>
              <a:rPr lang="en-US" sz="1400" dirty="0">
                <a:solidFill>
                  <a:srgbClr val="777777"/>
                </a:solidFill>
                <a:latin typeface="Calibri" pitchFamily="34" charset="0"/>
                <a:ea typeface="Calibri" pitchFamily="34" charset="-122"/>
                <a:cs typeface="Calibri" pitchFamily="34" charset="-120"/>
              </a:rPr>
              <a:t>(average 2001–2024)</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725160" y="1725931"/>
          <a:ext cx="2529840" cy="2179320"/>
        </p:xfrm>
        <a:graphic>
          <a:graphicData uri="http://schemas.openxmlformats.org/drawingml/2006/table">
            <a:tbl>
              <a:tblPr/>
              <a:tblGrid>
                <a:gridCol w="1264920">
                  <a:extLst>
                    <a:ext uri="{9D8B030D-6E8A-4147-A177-3AD203B41FA5}">
                      <a16:colId xmlns:a16="http://schemas.microsoft.com/office/drawing/2014/main" val="20000"/>
                    </a:ext>
                  </a:extLst>
                </a:gridCol>
                <a:gridCol w="1264920">
                  <a:extLst>
                    <a:ext uri="{9D8B030D-6E8A-4147-A177-3AD203B41FA5}">
                      <a16:colId xmlns:a16="http://schemas.microsoft.com/office/drawing/2014/main" val="20001"/>
                    </a:ext>
                  </a:extLst>
                </a:gridCol>
              </a:tblGrid>
              <a:tr h="386080">
                <a:tc>
                  <a:txBody>
                    <a:bodyPr/>
                    <a:lstStyle/>
                    <a:p>
                      <a:pPr marL="0" indent="0">
                        <a:lnSpc>
                          <a:spcPts val="1960"/>
                        </a:lnSpc>
                        <a:buNone/>
                      </a:pPr>
                      <a:r>
                        <a:rPr lang="en-US" sz="1400" dirty="0">
                          <a:solidFill>
                            <a:srgbClr val="222222"/>
                          </a:solidFill>
                          <a:latin typeface="Calibri" pitchFamily="34" charset="0"/>
                          <a:ea typeface="Calibri" pitchFamily="34" charset="-122"/>
                          <a:cs typeface="Calibri" pitchFamily="34" charset="-120"/>
                        </a:rPr>
                        <a:t>Milano</a:t>
                      </a:r>
                      <a:endParaRPr lang="en-US" sz="1400" dirty="0">
                        <a:latin typeface="Calibri" charset="0"/>
                        <a:ea typeface="Calibri" charset="0"/>
                        <a:cs typeface="Calibri" charset="0"/>
                      </a:endParaRPr>
                    </a:p>
                  </a:txBody>
                  <a:tcPr marL="0" marR="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222222"/>
                          </a:solidFill>
                          <a:latin typeface="Calibri" pitchFamily="34" charset="0"/>
                          <a:ea typeface="Calibri" pitchFamily="34" charset="-122"/>
                          <a:cs typeface="Calibri" pitchFamily="34" charset="-120"/>
                        </a:rPr>
                        <a:t>62</a:t>
                      </a:r>
                      <a:endParaRPr lang="en-US" sz="1400" dirty="0">
                        <a:latin typeface="Calibri" charset="0"/>
                        <a:ea typeface="Calibri" charset="0"/>
                        <a:cs typeface="Calibri" charset="0"/>
                      </a:endParaRPr>
                    </a:p>
                  </a:txBody>
                  <a:tcPr marL="0" marR="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0"/>
                  </a:ext>
                </a:extLst>
              </a:tr>
              <a:tr h="635000">
                <a:tc>
                  <a:txBody>
                    <a:bodyPr/>
                    <a:lstStyle/>
                    <a:p>
                      <a:pPr marL="0" indent="0">
                        <a:lnSpc>
                          <a:spcPts val="1960"/>
                        </a:lnSpc>
                        <a:buNone/>
                      </a:pPr>
                      <a:r>
                        <a:rPr lang="en-US" sz="1400" dirty="0">
                          <a:solidFill>
                            <a:srgbClr val="222222"/>
                          </a:solidFill>
                          <a:latin typeface="Calibri" pitchFamily="34" charset="0"/>
                          <a:ea typeface="Calibri" pitchFamily="34" charset="-122"/>
                          <a:cs typeface="Calibri" pitchFamily="34" charset="-120"/>
                        </a:rPr>
                        <a:t>Cinisello Balsamo</a:t>
                      </a:r>
                      <a:endParaRPr lang="en-US" sz="1400" dirty="0">
                        <a:latin typeface="Calibri" charset="0"/>
                        <a:ea typeface="Calibri" charset="0"/>
                        <a:cs typeface="Calibri" charset="0"/>
                      </a:endParaRPr>
                    </a:p>
                  </a:txBody>
                  <a:tcPr marL="0" marR="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222222"/>
                          </a:solidFill>
                          <a:latin typeface="Calibri" pitchFamily="34" charset="0"/>
                          <a:ea typeface="Calibri" pitchFamily="34" charset="-122"/>
                          <a:cs typeface="Calibri" pitchFamily="34" charset="-120"/>
                        </a:rPr>
                        <a:t>32</a:t>
                      </a:r>
                      <a:endParaRPr lang="en-US" sz="1400" dirty="0">
                        <a:latin typeface="Calibri" charset="0"/>
                        <a:ea typeface="Calibri" charset="0"/>
                        <a:cs typeface="Calibri" charset="0"/>
                      </a:endParaRPr>
                    </a:p>
                  </a:txBody>
                  <a:tcPr marL="0" marR="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86080">
                <a:tc>
                  <a:txBody>
                    <a:bodyPr/>
                    <a:lstStyle/>
                    <a:p>
                      <a:pPr marL="0" indent="0">
                        <a:lnSpc>
                          <a:spcPts val="1960"/>
                        </a:lnSpc>
                        <a:buNone/>
                      </a:pPr>
                      <a:r>
                        <a:rPr lang="en-US" sz="1400" dirty="0">
                          <a:solidFill>
                            <a:srgbClr val="222222"/>
                          </a:solidFill>
                          <a:latin typeface="Calibri" pitchFamily="34" charset="0"/>
                          <a:ea typeface="Calibri" pitchFamily="34" charset="-122"/>
                          <a:cs typeface="Calibri" pitchFamily="34" charset="-120"/>
                        </a:rPr>
                        <a:t>Firenze</a:t>
                      </a:r>
                      <a:endParaRPr lang="en-US" sz="1400" dirty="0">
                        <a:latin typeface="Calibri" charset="0"/>
                        <a:ea typeface="Calibri" charset="0"/>
                        <a:cs typeface="Calibri" charset="0"/>
                      </a:endParaRPr>
                    </a:p>
                  </a:txBody>
                  <a:tcPr marL="0" marR="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222222"/>
                          </a:solidFill>
                          <a:latin typeface="Calibri" pitchFamily="34" charset="0"/>
                          <a:ea typeface="Calibri" pitchFamily="34" charset="-122"/>
                          <a:cs typeface="Calibri" pitchFamily="34" charset="-120"/>
                        </a:rPr>
                        <a:t>30</a:t>
                      </a:r>
                      <a:endParaRPr lang="en-US" sz="1400" dirty="0">
                        <a:latin typeface="Calibri" charset="0"/>
                        <a:ea typeface="Calibri" charset="0"/>
                        <a:cs typeface="Calibri" charset="0"/>
                      </a:endParaRPr>
                    </a:p>
                  </a:txBody>
                  <a:tcPr marL="0" marR="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86080">
                <a:tc>
                  <a:txBody>
                    <a:bodyPr/>
                    <a:lstStyle/>
                    <a:p>
                      <a:pPr marL="0" indent="0">
                        <a:lnSpc>
                          <a:spcPts val="1960"/>
                        </a:lnSpc>
                        <a:buNone/>
                      </a:pPr>
                      <a:r>
                        <a:rPr lang="en-US" sz="1400" dirty="0">
                          <a:solidFill>
                            <a:srgbClr val="222222"/>
                          </a:solidFill>
                          <a:latin typeface="Calibri" pitchFamily="34" charset="0"/>
                          <a:ea typeface="Calibri" pitchFamily="34" charset="-122"/>
                          <a:cs typeface="Calibri" pitchFamily="34" charset="-120"/>
                        </a:rPr>
                        <a:t>Corsico</a:t>
                      </a:r>
                      <a:endParaRPr lang="en-US" sz="1400" dirty="0">
                        <a:latin typeface="Calibri" charset="0"/>
                        <a:ea typeface="Calibri" charset="0"/>
                        <a:cs typeface="Calibri" charset="0"/>
                      </a:endParaRPr>
                    </a:p>
                  </a:txBody>
                  <a:tcPr marL="0" marR="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222222"/>
                          </a:solidFill>
                          <a:latin typeface="Calibri" pitchFamily="34" charset="0"/>
                          <a:ea typeface="Calibri" pitchFamily="34" charset="-122"/>
                          <a:cs typeface="Calibri" pitchFamily="34" charset="-120"/>
                        </a:rPr>
                        <a:t>30</a:t>
                      </a:r>
                      <a:endParaRPr lang="en-US" sz="1400" dirty="0">
                        <a:latin typeface="Calibri" charset="0"/>
                        <a:ea typeface="Calibri" charset="0"/>
                        <a:cs typeface="Calibri" charset="0"/>
                      </a:endParaRPr>
                    </a:p>
                  </a:txBody>
                  <a:tcPr marL="0" marR="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86080">
                <a:tc>
                  <a:txBody>
                    <a:bodyPr/>
                    <a:lstStyle/>
                    <a:p>
                      <a:pPr marL="0" indent="0">
                        <a:lnSpc>
                          <a:spcPts val="1960"/>
                        </a:lnSpc>
                        <a:buNone/>
                      </a:pPr>
                      <a:r>
                        <a:rPr lang="en-US" sz="1400" dirty="0">
                          <a:solidFill>
                            <a:srgbClr val="222222"/>
                          </a:solidFill>
                          <a:latin typeface="Calibri" pitchFamily="34" charset="0"/>
                          <a:ea typeface="Calibri" pitchFamily="34" charset="-122"/>
                          <a:cs typeface="Calibri" pitchFamily="34" charset="-120"/>
                        </a:rPr>
                        <a:t>Torino</a:t>
                      </a:r>
                      <a:endParaRPr lang="en-US" sz="1400" dirty="0">
                        <a:latin typeface="Calibri" charset="0"/>
                        <a:ea typeface="Calibri" charset="0"/>
                        <a:cs typeface="Calibri" charset="0"/>
                      </a:endParaRPr>
                    </a:p>
                  </a:txBody>
                  <a:tcPr marL="0" marR="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222222"/>
                          </a:solidFill>
                          <a:latin typeface="Calibri" pitchFamily="34" charset="0"/>
                          <a:ea typeface="Calibri" pitchFamily="34" charset="-122"/>
                          <a:cs typeface="Calibri" pitchFamily="34" charset="-120"/>
                        </a:rPr>
                        <a:t>28</a:t>
                      </a:r>
                      <a:endParaRPr lang="en-US" sz="1400" dirty="0">
                        <a:latin typeface="Calibri" charset="0"/>
                        <a:ea typeface="Calibri" charset="0"/>
                        <a:cs typeface="Calibri" charset="0"/>
                      </a:endParaRPr>
                    </a:p>
                  </a:txBody>
                  <a:tcPr marL="0" marR="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8509000" y="1466850"/>
            <a:ext cx="287782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22222"/>
                </a:solidFill>
                <a:latin typeface="Calibri" pitchFamily="34" charset="0"/>
                <a:ea typeface="Calibri" pitchFamily="34" charset="-122"/>
                <a:cs typeface="Calibri" pitchFamily="34" charset="-120"/>
              </a:rPr>
              <a:t>Per 1,000 inhabitants</a:t>
            </a:r>
            <a:endParaRPr lang="en-US" sz="1400" dirty="0"/>
          </a:p>
        </p:txBody>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8519160" y="1725931"/>
          <a:ext cx="2783840" cy="2179320"/>
        </p:xfrm>
        <a:graphic>
          <a:graphicData uri="http://schemas.openxmlformats.org/drawingml/2006/table">
            <a:tbl>
              <a:tblPr/>
              <a:tblGrid>
                <a:gridCol w="1391920">
                  <a:extLst>
                    <a:ext uri="{9D8B030D-6E8A-4147-A177-3AD203B41FA5}">
                      <a16:colId xmlns:a16="http://schemas.microsoft.com/office/drawing/2014/main" val="20000"/>
                    </a:ext>
                  </a:extLst>
                </a:gridCol>
                <a:gridCol w="1391920">
                  <a:extLst>
                    <a:ext uri="{9D8B030D-6E8A-4147-A177-3AD203B41FA5}">
                      <a16:colId xmlns:a16="http://schemas.microsoft.com/office/drawing/2014/main" val="20001"/>
                    </a:ext>
                  </a:extLst>
                </a:gridCol>
              </a:tblGrid>
              <a:tr h="386080">
                <a:tc>
                  <a:txBody>
                    <a:bodyPr/>
                    <a:lstStyle/>
                    <a:p>
                      <a:pPr marL="0" indent="0">
                        <a:lnSpc>
                          <a:spcPts val="1960"/>
                        </a:lnSpc>
                        <a:buNone/>
                      </a:pPr>
                      <a:r>
                        <a:rPr lang="en-US" sz="1400" dirty="0">
                          <a:solidFill>
                            <a:srgbClr val="222222"/>
                          </a:solidFill>
                          <a:latin typeface="Calibri" pitchFamily="34" charset="0"/>
                          <a:ea typeface="Calibri" pitchFamily="34" charset="-122"/>
                          <a:cs typeface="Calibri" pitchFamily="34" charset="-120"/>
                        </a:rPr>
                        <a:t>Trapani</a:t>
                      </a:r>
                      <a:endParaRPr lang="en-US" sz="1400" dirty="0">
                        <a:latin typeface="Calibri" charset="0"/>
                        <a:ea typeface="Calibri" charset="0"/>
                        <a:cs typeface="Calibri" charset="0"/>
                      </a:endParaRPr>
                    </a:p>
                  </a:txBody>
                  <a:tcPr marL="0" marR="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222222"/>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0" marR="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0"/>
                  </a:ext>
                </a:extLst>
              </a:tr>
              <a:tr h="386080">
                <a:tc>
                  <a:txBody>
                    <a:bodyPr/>
                    <a:lstStyle/>
                    <a:p>
                      <a:pPr marL="0" indent="0">
                        <a:lnSpc>
                          <a:spcPts val="1960"/>
                        </a:lnSpc>
                        <a:buNone/>
                      </a:pPr>
                      <a:r>
                        <a:rPr lang="en-US" sz="1400" dirty="0">
                          <a:solidFill>
                            <a:srgbClr val="222222"/>
                          </a:solidFill>
                          <a:latin typeface="Calibri" pitchFamily="34" charset="0"/>
                          <a:ea typeface="Calibri" pitchFamily="34" charset="-122"/>
                          <a:cs typeface="Calibri" pitchFamily="34" charset="-120"/>
                        </a:rPr>
                        <a:t>Riccione</a:t>
                      </a:r>
                      <a:endParaRPr lang="en-US" sz="1400" dirty="0">
                        <a:latin typeface="Calibri" charset="0"/>
                        <a:ea typeface="Calibri" charset="0"/>
                        <a:cs typeface="Calibri" charset="0"/>
                      </a:endParaRPr>
                    </a:p>
                  </a:txBody>
                  <a:tcPr marL="0" marR="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222222"/>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0" marR="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635000">
                <a:tc>
                  <a:txBody>
                    <a:bodyPr/>
                    <a:lstStyle/>
                    <a:p>
                      <a:pPr marL="0" indent="0">
                        <a:lnSpc>
                          <a:spcPts val="1960"/>
                        </a:lnSpc>
                        <a:buNone/>
                      </a:pPr>
                      <a:r>
                        <a:rPr lang="en-US" sz="1400" dirty="0">
                          <a:solidFill>
                            <a:srgbClr val="222222"/>
                          </a:solidFill>
                          <a:latin typeface="Calibri" pitchFamily="34" charset="0"/>
                          <a:ea typeface="Calibri" pitchFamily="34" charset="-122"/>
                          <a:cs typeface="Calibri" pitchFamily="34" charset="-120"/>
                        </a:rPr>
                        <a:t>Barberino di Mugello</a:t>
                      </a:r>
                      <a:endParaRPr lang="en-US" sz="1400" dirty="0">
                        <a:latin typeface="Calibri" charset="0"/>
                        <a:ea typeface="Calibri" charset="0"/>
                        <a:cs typeface="Calibri" charset="0"/>
                      </a:endParaRPr>
                    </a:p>
                  </a:txBody>
                  <a:tcPr marL="0" marR="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222222"/>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0" marR="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86080">
                <a:tc>
                  <a:txBody>
                    <a:bodyPr/>
                    <a:lstStyle/>
                    <a:p>
                      <a:pPr marL="0" indent="0">
                        <a:lnSpc>
                          <a:spcPts val="1960"/>
                        </a:lnSpc>
                        <a:buNone/>
                      </a:pPr>
                      <a:r>
                        <a:rPr lang="en-US" sz="1400" dirty="0">
                          <a:solidFill>
                            <a:srgbClr val="222222"/>
                          </a:solidFill>
                          <a:latin typeface="Calibri" pitchFamily="34" charset="0"/>
                          <a:ea typeface="Calibri" pitchFamily="34" charset="-122"/>
                          <a:cs typeface="Calibri" pitchFamily="34" charset="-120"/>
                        </a:rPr>
                        <a:t>Firenze</a:t>
                      </a:r>
                      <a:endParaRPr lang="en-US" sz="1400" dirty="0">
                        <a:latin typeface="Calibri" charset="0"/>
                        <a:ea typeface="Calibri" charset="0"/>
                        <a:cs typeface="Calibri" charset="0"/>
                      </a:endParaRPr>
                    </a:p>
                  </a:txBody>
                  <a:tcPr marL="0" marR="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222222"/>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0" marR="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86080">
                <a:tc>
                  <a:txBody>
                    <a:bodyPr/>
                    <a:lstStyle/>
                    <a:p>
                      <a:pPr marL="0" indent="0">
                        <a:lnSpc>
                          <a:spcPts val="1960"/>
                        </a:lnSpc>
                        <a:buNone/>
                      </a:pPr>
                      <a:r>
                        <a:rPr lang="en-US" sz="1400" dirty="0">
                          <a:solidFill>
                            <a:srgbClr val="222222"/>
                          </a:solidFill>
                          <a:latin typeface="Calibri" pitchFamily="34" charset="0"/>
                          <a:ea typeface="Calibri" pitchFamily="34" charset="-122"/>
                          <a:cs typeface="Calibri" pitchFamily="34" charset="-120"/>
                        </a:rPr>
                        <a:t>Jesolo</a:t>
                      </a:r>
                      <a:endParaRPr lang="en-US" sz="1400" dirty="0">
                        <a:latin typeface="Calibri" charset="0"/>
                        <a:ea typeface="Calibri" charset="0"/>
                        <a:cs typeface="Calibri" charset="0"/>
                      </a:endParaRPr>
                    </a:p>
                  </a:txBody>
                  <a:tcPr marL="0" marR="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222222"/>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0" marR="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Text 5"/>
          <p:cNvSpPr/>
          <p:nvPr/>
        </p:nvSpPr>
        <p:spPr>
          <a:xfrm>
            <a:off x="889000" y="4826000"/>
            <a:ext cx="10464800" cy="614680"/>
          </a:xfrm>
          <a:prstGeom prst="rect">
            <a:avLst/>
          </a:prstGeom>
          <a:noFill/>
          <a:ln/>
        </p:spPr>
        <p:txBody>
          <a:bodyPr wrap="square" lIns="0" tIns="0" rIns="0" bIns="0" rtlCol="0" anchor="t">
            <a:normAutofit/>
          </a:bodyPr>
          <a:lstStyle/>
          <a:p>
            <a:pPr marL="0" indent="0" algn="l">
              <a:lnSpc>
                <a:spcPts val="2320"/>
              </a:lnSpc>
              <a:buNone/>
            </a:pPr>
            <a:r>
              <a:rPr lang="en-US" sz="1600" b="1" dirty="0">
                <a:solidFill>
                  <a:srgbClr val="222222"/>
                </a:solidFill>
                <a:latin typeface="Calibri" pitchFamily="34" charset="0"/>
                <a:ea typeface="Calibri" pitchFamily="34" charset="-122"/>
                <a:cs typeface="Calibri" pitchFamily="34" charset="-120"/>
              </a:rPr>
              <a:t>Conclusion:</a:t>
            </a:r>
            <a:r>
              <a:rPr lang="en-US" sz="1600" dirty="0">
                <a:solidFill>
                  <a:srgbClr val="222222"/>
                </a:solidFill>
                <a:latin typeface="Calibri" pitchFamily="34" charset="0"/>
                <a:ea typeface="Calibri" pitchFamily="34" charset="-122"/>
                <a:cs typeface="Calibri" pitchFamily="34" charset="-120"/>
              </a:rPr>
              <a:t> Milano, Firenze and Bergamo are in the top 10 on both measures, and the area around Milan (Cinisello Balsamo, Corsico, Cormano) has the highest concentration. Population and area are the 2024 values for every year.</a:t>
            </a:r>
            <a:endParaRPr lang="en-US" sz="1600" dirty="0"/>
          </a:p>
        </p:txBody>
      </p:sp>
    </p:spTree>
  </p:cSld>
  <p:clrMapOvr>
    <a:masterClrMapping/>
  </p:clrMapOvr>
</p:sld>
</file>

<file path=ppt/theme/theme1.xml><?xml version="1.0" encoding="utf-8"?>
<a:theme xmlns:a="http://schemas.openxmlformats.org/drawingml/2006/main" name="ISTAT Road Accidents – Capstone">
  <a:themeElements>
    <a:clrScheme name="ISTAT Road Accidents – Capstone">
      <a:dk1>
        <a:srgbClr val="222222"/>
      </a:dk1>
      <a:lt1>
        <a:srgbClr val="FFFFFF"/>
      </a:lt1>
      <a:dk2>
        <a:srgbClr val="595959"/>
      </a:dk2>
      <a:lt2>
        <a:srgbClr val="E9E9E9"/>
      </a:lt2>
      <a:accent1>
        <a:srgbClr val="1F3A5F"/>
      </a:accent1>
      <a:accent2>
        <a:srgbClr val="777777"/>
      </a:accent2>
      <a:accent3>
        <a:srgbClr val="444444"/>
      </a:accent3>
      <a:accent4>
        <a:srgbClr val="666666"/>
      </a:accent4>
      <a:accent5>
        <a:srgbClr val="9AA0A6"/>
      </a:accent5>
      <a:accent6>
        <a:srgbClr val="7A7A7A"/>
      </a:accent6>
      <a:hlink>
        <a:srgbClr val="0563C1"/>
      </a:hlink>
      <a:folHlink>
        <a:srgbClr val="954F72"/>
      </a:folHlink>
    </a:clrScheme>
    <a:fontScheme name="ISTAT Road Accidents – Capston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746</Words>
  <Application>Microsoft Office PowerPoint</Application>
  <PresentationFormat>Widescreen</PresentationFormat>
  <Paragraphs>69</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ISTAT Road Accidents – Capstone</vt:lpstr>
      <vt:lpstr>Road accidents in Italian municipalities</vt:lpstr>
      <vt:lpstr>The problem</vt:lpstr>
      <vt:lpstr>What I did</vt:lpstr>
      <vt:lpstr>Tools</vt:lpstr>
      <vt:lpstr>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ISTAT Road Accidents – Capstone</dc:title>
  <dc:subject/>
  <dc:creator/>
  <cp:lastModifiedBy>martina furian</cp:lastModifiedBy>
  <cp:revision>3</cp:revision>
  <dcterms:created xsi:type="dcterms:W3CDTF">2026-10-16T08:48:35Z</dcterms:created>
  <dcterms:modified xsi:type="dcterms:W3CDTF">2026-10-16T16:35:20Z</dcterms:modified>
</cp:coreProperties>
</file>